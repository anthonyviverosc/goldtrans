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75C849C-B355-7C8F-C831-8E063773B9FA}">
          <p14:sldIdLst>
            <p14:sldId id="256"/>
          </p14:sldIdLst>
        </p14:section>
        <p14:section name="Resumen" id="{037E83AC-2850-7821-58CF-398F73F49403}">
          <p14:sldIdLst>
            <p14:sldId id="257"/>
          </p14:sldIdLst>
        </p14:section>
        <p14:section name="Módulos" id="{9F28EB14-6622-6B1D-7A1E-2D9B7A7F9484}">
          <p14:sldIdLst>
            <p14:sldId id="258"/>
            <p14:sldId id="259"/>
            <p14:sldId id="260"/>
            <p14:sldId id="261"/>
            <p14:sldId id="262"/>
          </p14:sldIdLst>
        </p14:section>
        <p14:section name="Usuarios y experiencia" id="{8DA28C92-A1D8-4DCA-9CE6-10F26C038C97}">
          <p14:sldIdLst>
            <p14:sldId id="263"/>
            <p14:sldId id="264"/>
          </p14:sldIdLst>
        </p14:section>
        <p14:section name="Calidad y cierre" id="{8E8834BB-F7A5-FF52-EF31-6A01D4226F4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lang="es-CO" sz="1300" b="0" i="0" u="none" strike="noStrike">
                <a:solidFill>
                  <a:srgbClr val="14213D"/>
                </a:solidFill>
                <a:latin typeface="+mn-lt"/>
              </a:rPr>
              <a:t>Tiempo del cotizador (segundos)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Segundos</c:v>
                </c:pt>
              </c:strCache>
            </c:strRef>
          </c:tx>
          <c:spPr>
            <a:solidFill>
              <a:srgbClr val="D9E0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55-40F6-A92F-839BF7A2871A}"/>
              </c:ext>
            </c:extLst>
          </c:dPt>
          <c:dPt>
            <c:idx val="1"/>
            <c:invertIfNegative val="0"/>
            <c:bubble3D val="0"/>
            <c:spPr>
              <a:solidFill>
                <a:srgbClr val="1A42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55-40F6-A92F-839BF7A2871A}"/>
              </c:ext>
            </c:extLst>
          </c:dPt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Meta</c:v>
                </c:pt>
                <c:pt idx="1">
                  <c:v>Medido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55-40F6-A92F-839BF7A287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E6A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19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avances de la app móvil de GOLDTRANS: qué hace hoy, qué cambió recientemente y qué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rápido: seis sprints, las 33 historias del backlog, tres módulos y cuatro roles. La calidad se respalda con 165 pruebas automáticas y el cotizador responde muy por debajo de la meta de 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cotizador es la puerta de entrada: no exige cuenta, sugiere el vehículo, calcula al instante y se comparte. Si el cliente tiene cuenta, la convierte en solicitud y un asesor la gestiona.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Analizamos cuatro cotizaciones reales de la empresa (COOTRANSERP, FUNDESAC, Progresur y SERVIEVENTOS) y ajustamos el cálculo para que la app cotice igual que el área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PDF reproduce la carta que hoy hace la empresa: encabezado con logo y control documental, destinatario, tabla con el valor, notas de kilometraje y forma de pago, y los datos de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completo de Goldtours. El pago es por transferencia: el cliente sube el comprobante y el asesor lo verifica. Si una prerreserva no se paga en 48 horas, los cupos vuelven a quedar disponibles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portal centraliza la documentación de la empresa para presentarse a licitaciones: nada se vence sin aviso y el paquete de documentos de cada proceso se descarga listo.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roles con pantallas distintas. Los permisos también se aplican en el servidor, así que nadie puede ver ni modificar información que no le corresponde.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Rediseño completo: identidad de la empresa, calendario en los 13 campos de fecha, íconos y estados con color, y una navegación en la que nadie se queda sin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Medición en producción: el 95 % de las cotizaciones responde en unos 0,64 segundos, ocho veces por debajo de la meta de 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 que falta para poner las tarifas nuevas en producción y validar la app con usuarios reales. Abrir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0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83080"/>
            <a:ext cx="56692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5669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pic>
        <p:nvPicPr>
          <p:cNvPr id="3" name="Image 0" descr="C:\Users\Victor Manuel\AppData\Local\Temp\claude\c--Users-Victor-Manuel-Desktop-GoldTrans\9574ba1a-6db1-45aa-bb8a-bf125813c3af\scratchpad\deck\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808" y="4727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GOLDTRANS S.A.S. · Avances del proyecto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02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fondo"/>
          <p:cNvSpPr/>
          <p:nvPr/>
        </p:nvSpPr>
        <p:spPr>
          <a:xfrm>
            <a:off x="6446520" y="1234440"/>
            <a:ext cx="2240280" cy="224028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Logo" descr="C:\Users\Victor Manuel\AppData\Local\Temp\claude\c--Users-Victor-Manuel-Desktop-GoldTrans\9574ba1a-6db1-45aa-bb8a-bf125813c3af\scratchpad\deck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08760"/>
            <a:ext cx="1691640" cy="1691640"/>
          </a:xfrm>
          <a:prstGeom prst="rect">
            <a:avLst/>
          </a:prstGeom>
        </p:spPr>
      </p:pic>
      <p:sp>
        <p:nvSpPr>
          <p:cNvPr id="4" name="Antetítulo"/>
          <p:cNvSpPr txBox="1"/>
          <p:nvPr/>
        </p:nvSpPr>
        <p:spPr>
          <a:xfrm>
            <a:off x="54864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TRANSPORTE ESPECIAL · LA HORMIGA, PUTUMAYO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8308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App móvil GOLDTRANS</a:t>
            </a:r>
            <a:endParaRPr lang="en-US" sz="40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Avances del proyecto · Octubre 2026</a:t>
            </a:r>
            <a:endParaRPr lang="en-US" sz="1800" dirty="0"/>
          </a:p>
        </p:txBody>
      </p:sp>
      <p:sp>
        <p:nvSpPr>
          <p:cNvPr id="7" name="Equipo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Camilo Gordillo · Andrés Muñoz · Víctor Velásquez · Anthony Viveros</a:t>
            </a:r>
            <a:endParaRPr lang="en-US" sz="1300" dirty="0"/>
          </a:p>
        </p:txBody>
      </p:sp>
      <p:sp>
        <p:nvSpPr>
          <p:cNvPr id="8" name="Lema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"Nuestra Misión, Tu Destino"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proyecto en cifras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Una sola app para clientes, asesores y administración, con tres módulos de negocio</a:t>
            </a:r>
            <a:endParaRPr lang="en-US" sz="1500" dirty="0"/>
          </a:p>
        </p:txBody>
      </p:sp>
      <p:sp>
        <p:nvSpPr>
          <p:cNvPr id="4" name="Cifra 1"/>
          <p:cNvSpPr/>
          <p:nvPr/>
        </p:nvSpPr>
        <p:spPr>
          <a:xfrm>
            <a:off x="457200" y="1463040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Cifra 1 número"/>
          <p:cNvSpPr txBox="1"/>
          <p:nvPr/>
        </p:nvSpPr>
        <p:spPr>
          <a:xfrm>
            <a:off x="68580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/>
              <a:t>5</a:t>
            </a:r>
          </a:p>
        </p:txBody>
      </p:sp>
      <p:sp>
        <p:nvSpPr>
          <p:cNvPr id="6" name="Cifra 1 texto"/>
          <p:cNvSpPr txBox="1"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sprints Scrum completados</a:t>
            </a:r>
            <a:endParaRPr lang="en-US" sz="1300" dirty="0"/>
          </a:p>
        </p:txBody>
      </p:sp>
      <p:sp>
        <p:nvSpPr>
          <p:cNvPr id="7" name="Cifra 2"/>
          <p:cNvSpPr/>
          <p:nvPr/>
        </p:nvSpPr>
        <p:spPr>
          <a:xfrm>
            <a:off x="3264408" y="1463040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Cifra 2 número"/>
          <p:cNvSpPr txBox="1"/>
          <p:nvPr/>
        </p:nvSpPr>
        <p:spPr>
          <a:xfrm>
            <a:off x="3493008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cs typeface="Arial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Cifra 2 texto"/>
          <p:cNvSpPr txBox="1"/>
          <p:nvPr/>
        </p:nvSpPr>
        <p:spPr>
          <a:xfrm>
            <a:off x="3493008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historias de usuario entregadas</a:t>
            </a:r>
            <a:endParaRPr lang="en-US" sz="1300" dirty="0"/>
          </a:p>
        </p:txBody>
      </p:sp>
      <p:sp>
        <p:nvSpPr>
          <p:cNvPr id="10" name="Cifra 3"/>
          <p:cNvSpPr/>
          <p:nvPr/>
        </p:nvSpPr>
        <p:spPr>
          <a:xfrm>
            <a:off x="6071616" y="1463040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Cifra 3 número"/>
          <p:cNvSpPr txBox="1"/>
          <p:nvPr/>
        </p:nvSpPr>
        <p:spPr>
          <a:xfrm>
            <a:off x="6300216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Cifra 3 texto"/>
          <p:cNvSpPr txBox="1"/>
          <p:nvPr/>
        </p:nvSpPr>
        <p:spPr>
          <a:xfrm>
            <a:off x="6300216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módulos: cotizador, Goldtours y licitaciones</a:t>
            </a:r>
            <a:endParaRPr lang="en-US" sz="1300" dirty="0"/>
          </a:p>
        </p:txBody>
      </p:sp>
      <p:sp>
        <p:nvSpPr>
          <p:cNvPr id="13" name="Cifra 4"/>
          <p:cNvSpPr/>
          <p:nvPr/>
        </p:nvSpPr>
        <p:spPr>
          <a:xfrm>
            <a:off x="457200" y="3035808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Cifra 4 número"/>
          <p:cNvSpPr txBox="1"/>
          <p:nvPr/>
        </p:nvSpPr>
        <p:spPr>
          <a:xfrm>
            <a:off x="685800" y="3172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Cifra 4 texto"/>
          <p:cNvSpPr txBox="1"/>
          <p:nvPr/>
        </p:nvSpPr>
        <p:spPr>
          <a:xfrm>
            <a:off x="685800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roles con permisos distintos</a:t>
            </a:r>
            <a:endParaRPr lang="en-US" sz="1300" dirty="0"/>
          </a:p>
        </p:txBody>
      </p:sp>
      <p:sp>
        <p:nvSpPr>
          <p:cNvPr id="16" name="Cifra 5"/>
          <p:cNvSpPr/>
          <p:nvPr/>
        </p:nvSpPr>
        <p:spPr>
          <a:xfrm>
            <a:off x="3264408" y="3035808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Cifra 5 número"/>
          <p:cNvSpPr txBox="1"/>
          <p:nvPr/>
        </p:nvSpPr>
        <p:spPr>
          <a:xfrm>
            <a:off x="3493008" y="3172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4000" dirty="0"/>
          </a:p>
        </p:txBody>
      </p:sp>
      <p:sp>
        <p:nvSpPr>
          <p:cNvPr id="18" name="Cifra 5 texto"/>
          <p:cNvSpPr txBox="1"/>
          <p:nvPr/>
        </p:nvSpPr>
        <p:spPr>
          <a:xfrm>
            <a:off x="3493008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pruebas automáticas en verde</a:t>
            </a:r>
            <a:endParaRPr lang="en-US" sz="1300" dirty="0"/>
          </a:p>
        </p:txBody>
      </p:sp>
      <p:sp>
        <p:nvSpPr>
          <p:cNvPr id="19" name="Cifra 6"/>
          <p:cNvSpPr/>
          <p:nvPr/>
        </p:nvSpPr>
        <p:spPr>
          <a:xfrm>
            <a:off x="6071616" y="3035808"/>
            <a:ext cx="2615184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Cifra 6 número"/>
          <p:cNvSpPr txBox="1"/>
          <p:nvPr/>
        </p:nvSpPr>
        <p:spPr>
          <a:xfrm>
            <a:off x="6300216" y="31729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 s</a:t>
            </a:r>
            <a:endParaRPr lang="en-US" sz="4000" dirty="0"/>
          </a:p>
        </p:txBody>
      </p:sp>
      <p:sp>
        <p:nvSpPr>
          <p:cNvPr id="21" name="Cifra 6 texto"/>
          <p:cNvSpPr txBox="1"/>
          <p:nvPr/>
        </p:nvSpPr>
        <p:spPr>
          <a:xfrm>
            <a:off x="6300216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tarda una cotización (meta: 5 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Cotizador instantáneo</a:t>
            </a:r>
            <a:endParaRPr lang="en-US" sz="3000" dirty="0"/>
          </a:p>
        </p:txBody>
      </p:sp>
      <p:sp>
        <p:nvSpPr>
          <p:cNvPr id="3" name="Cotizador 1 fondo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Cotizador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43584"/>
            <a:ext cx="256032" cy="256032"/>
          </a:xfrm>
          <a:prstGeom prst="rect">
            <a:avLst/>
          </a:prstGeom>
        </p:spPr>
      </p:pic>
      <p:sp>
        <p:nvSpPr>
          <p:cNvPr id="5" name="Cotizador 1 texto"/>
          <p:cNvSpPr txBox="1"/>
          <p:nvPr/>
        </p:nvSpPr>
        <p:spPr>
          <a:xfrm>
            <a:off x="1051560" y="11064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registrarse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Cualquier visitante cotiza desde el celular</a:t>
            </a:r>
            <a:endParaRPr lang="en-US" sz="1400" dirty="0"/>
          </a:p>
        </p:txBody>
      </p:sp>
      <p:sp>
        <p:nvSpPr>
          <p:cNvPr id="6" name="Cotizador 2 fondo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Cotizador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1929384"/>
            <a:ext cx="256032" cy="256032"/>
          </a:xfrm>
          <a:prstGeom prst="rect">
            <a:avLst/>
          </a:prstGeom>
        </p:spPr>
      </p:pic>
      <p:sp>
        <p:nvSpPr>
          <p:cNvPr id="8" name="Cotizador 2 texto"/>
          <p:cNvSpPr txBox="1"/>
          <p:nvPr/>
        </p:nvSpPr>
        <p:spPr>
          <a:xfrm>
            <a:off x="1051560" y="17922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Vehículo sugerido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Elige el más adecuado según los pasajeros</a:t>
            </a:r>
            <a:endParaRPr lang="en-US" sz="1400" dirty="0"/>
          </a:p>
        </p:txBody>
      </p:sp>
      <p:sp>
        <p:nvSpPr>
          <p:cNvPr id="9" name="Cotizador 3 fondo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Cotizador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615184"/>
            <a:ext cx="256032" cy="256032"/>
          </a:xfrm>
          <a:prstGeom prst="rect">
            <a:avLst/>
          </a:prstGeom>
        </p:spPr>
      </p:pic>
      <p:sp>
        <p:nvSpPr>
          <p:cNvPr id="11" name="Cotizador 3 texto"/>
          <p:cNvSpPr txBox="1"/>
          <p:nvPr/>
        </p:nvSpPr>
        <p:spPr>
          <a:xfrm>
            <a:off x="1051560" y="24780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Precio al instante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Valor y desglose en menos de un segundo</a:t>
            </a:r>
            <a:endParaRPr lang="en-US" sz="1400" dirty="0"/>
          </a:p>
        </p:txBody>
      </p:sp>
      <p:sp>
        <p:nvSpPr>
          <p:cNvPr id="12" name="Cotizador 4 fondo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Cotizador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300984"/>
            <a:ext cx="256032" cy="256032"/>
          </a:xfrm>
          <a:prstGeom prst="rect">
            <a:avLst/>
          </a:prstGeom>
        </p:spPr>
      </p:pic>
      <p:sp>
        <p:nvSpPr>
          <p:cNvPr id="14" name="Cotizador 4 texto"/>
          <p:cNvSpPr txBox="1"/>
          <p:nvPr/>
        </p:nvSpPr>
        <p:spPr>
          <a:xfrm>
            <a:off x="1051560" y="31638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Fácil de compartir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Por WhatsApp, correo o en PDF</a:t>
            </a:r>
            <a:endParaRPr lang="en-US" sz="1400" dirty="0"/>
          </a:p>
        </p:txBody>
      </p:sp>
      <p:sp>
        <p:nvSpPr>
          <p:cNvPr id="15" name="Cotizador 5 fondo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Cotizador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3986784"/>
            <a:ext cx="256032" cy="256032"/>
          </a:xfrm>
          <a:prstGeom prst="rect">
            <a:avLst/>
          </a:prstGeom>
        </p:spPr>
      </p:pic>
      <p:sp>
        <p:nvSpPr>
          <p:cNvPr id="17" name="Cotizador 5 texto"/>
          <p:cNvSpPr txBox="1"/>
          <p:nvPr/>
        </p:nvSpPr>
        <p:spPr>
          <a:xfrm>
            <a:off x="1051560" y="38496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 formal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El asesor la confirma, ajusta o rechaza</a:t>
            </a:r>
            <a:endParaRPr lang="en-US" sz="1400" dirty="0"/>
          </a:p>
        </p:txBody>
      </p:sp>
      <p:sp>
        <p:nvSpPr>
          <p:cNvPr id="18" name="Captura cotizador marco"/>
          <p:cNvSpPr/>
          <p:nvPr/>
        </p:nvSpPr>
        <p:spPr>
          <a:xfrm>
            <a:off x="5276088" y="1024128"/>
            <a:ext cx="3438144" cy="3566160"/>
          </a:xfrm>
          <a:prstGeom prst="roundRect">
            <a:avLst>
              <a:gd name="adj" fmla="val 2660"/>
            </a:avLst>
          </a:prstGeom>
          <a:solidFill>
            <a:schemeClr val="bg1"/>
          </a:solidFill>
          <a:ln w="12700">
            <a:solidFill>
              <a:srgbClr val="D9E0EB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" name="Captura cotizador" descr="C:\Users\Victor Manuel\AppData\Local\Temp\claude\c--Users-Victor-Manuel-Desktop-GoldTrans\9574ba1a-6db1-45aa-bb8a-bf125813c3af\scratchpad\deck\cotizado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1097280"/>
            <a:ext cx="3291840" cy="34198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Tarifas como en las cotizaciones reales</a:t>
            </a:r>
            <a:endParaRPr lang="en-US" sz="3000" dirty="0"/>
          </a:p>
        </p:txBody>
      </p:sp>
      <p:sp>
        <p:nvSpPr>
          <p:cNvPr id="3" name="Tarifa 1 fondo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Tarifa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89304"/>
            <a:ext cx="256032" cy="256032"/>
          </a:xfrm>
          <a:prstGeom prst="rect">
            <a:avLst/>
          </a:prstGeom>
        </p:spPr>
      </p:pic>
      <p:sp>
        <p:nvSpPr>
          <p:cNvPr id="5" name="Tarifa 1 texto"/>
          <p:cNvSpPr txBox="1"/>
          <p:nvPr/>
        </p:nvSpPr>
        <p:spPr>
          <a:xfrm>
            <a:off x="1051560" y="11521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jornada de 4, 8 o 12 horas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Se cobra por día de servicio, no por kilómetro</a:t>
            </a:r>
            <a:endParaRPr lang="en-US" sz="1400" dirty="0"/>
          </a:p>
        </p:txBody>
      </p:sp>
      <p:sp>
        <p:nvSpPr>
          <p:cNvPr id="6" name="Tarifa 2 fondo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Tarifa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066544"/>
            <a:ext cx="256032" cy="256032"/>
          </a:xfrm>
          <a:prstGeom prst="rect">
            <a:avLst/>
          </a:prstGeom>
        </p:spPr>
      </p:pic>
      <p:sp>
        <p:nvSpPr>
          <p:cNvPr id="8" name="Tarifa 2 texto"/>
          <p:cNvSpPr txBox="1"/>
          <p:nvPr/>
        </p:nvSpPr>
        <p:spPr>
          <a:xfrm>
            <a:off x="1051560" y="19293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150 km diarios incluidos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Solo se cobra el kilómetro adicional</a:t>
            </a:r>
            <a:endParaRPr lang="en-US" sz="1400" dirty="0"/>
          </a:p>
        </p:txBody>
      </p:sp>
      <p:sp>
        <p:nvSpPr>
          <p:cNvPr id="9" name="Tarifa 3 fondo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Tarifa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843784"/>
            <a:ext cx="256032" cy="256032"/>
          </a:xfrm>
          <a:prstGeom prst="rect">
            <a:avLst/>
          </a:prstGeom>
        </p:spPr>
      </p:pic>
      <p:sp>
        <p:nvSpPr>
          <p:cNvPr id="11" name="Tarifa 3 texto"/>
          <p:cNvSpPr txBox="1"/>
          <p:nvPr/>
        </p:nvSpPr>
        <p:spPr>
          <a:xfrm>
            <a:off x="1051560" y="27066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Precio especial por ruta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Ej.: Mocoa – Valle del Guamuez tiene su propio valor</a:t>
            </a:r>
            <a:endParaRPr lang="en-US" sz="1400" dirty="0"/>
          </a:p>
        </p:txBody>
      </p:sp>
      <p:sp>
        <p:nvSpPr>
          <p:cNvPr id="12" name="Tarifa 4 fondo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Tarifa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621024"/>
            <a:ext cx="256032" cy="256032"/>
          </a:xfrm>
          <a:prstGeom prst="rect">
            <a:avLst/>
          </a:prstGeom>
        </p:spPr>
      </p:pic>
      <p:sp>
        <p:nvSpPr>
          <p:cNvPr id="14" name="Tarifa 4 texto"/>
          <p:cNvSpPr txBox="1"/>
          <p:nvPr/>
        </p:nvSpPr>
        <p:spPr>
          <a:xfrm>
            <a:off x="1051560" y="348386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todo costo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Incluye conductor, combustible y peajes</a:t>
            </a:r>
            <a:endParaRPr lang="en-US" sz="1400" dirty="0"/>
          </a:p>
        </p:txBody>
      </p:sp>
      <p:sp>
        <p:nvSpPr>
          <p:cNvPr id="15" name="Ejemplo tarifa"/>
          <p:cNvSpPr/>
          <p:nvPr/>
        </p:nvSpPr>
        <p:spPr>
          <a:xfrm>
            <a:off x="5257800" y="1143000"/>
            <a:ext cx="342900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Ejemplo etiqueta"/>
          <p:cNvSpPr txBox="1"/>
          <p:nvPr/>
        </p:nvSpPr>
        <p:spPr>
          <a:xfrm>
            <a:off x="55321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2"/>
                </a:solidFill>
              </a:rPr>
              <a:t>EJEMPLO · COTIZACIÓN COOTRANSERP</a:t>
            </a:r>
            <a:endParaRPr lang="en-US" sz="1100" dirty="0"/>
          </a:p>
        </p:txBody>
      </p:sp>
      <p:sp>
        <p:nvSpPr>
          <p:cNvPr id="17" name="Ejemplo vehículo"/>
          <p:cNvSpPr txBox="1"/>
          <p:nvPr/>
        </p:nvSpPr>
        <p:spPr>
          <a:xfrm>
            <a:off x="553212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Camioneta 4x4 doble cabina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Jornada de 12 horas</a:t>
            </a:r>
            <a:endParaRPr lang="en-US" sz="1500" dirty="0"/>
          </a:p>
        </p:txBody>
      </p:sp>
      <p:sp>
        <p:nvSpPr>
          <p:cNvPr id="18" name="Ejemplo precio"/>
          <p:cNvSpPr txBox="1"/>
          <p:nvPr/>
        </p:nvSpPr>
        <p:spPr>
          <a:xfrm>
            <a:off x="553212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$580.000</a:t>
            </a:r>
            <a:endParaRPr lang="en-US" sz="4000" dirty="0"/>
          </a:p>
        </p:txBody>
      </p:sp>
      <p:sp>
        <p:nvSpPr>
          <p:cNvPr id="19" name="Ejemplo unidad"/>
          <p:cNvSpPr txBox="1"/>
          <p:nvPr/>
        </p:nvSpPr>
        <p:spPr>
          <a:xfrm>
            <a:off x="55321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por día de servicio</a:t>
            </a:r>
            <a:endParaRPr lang="en-US" sz="1300" dirty="0"/>
          </a:p>
        </p:txBody>
      </p:sp>
      <p:sp>
        <p:nvSpPr>
          <p:cNvPr id="20" name="Ejemplo km"/>
          <p:cNvSpPr txBox="1"/>
          <p:nvPr/>
        </p:nvSpPr>
        <p:spPr>
          <a:xfrm>
            <a:off x="553212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150 km diarios incluidos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$1.500 por km adicional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 cotización sale con formato oficial</a:t>
            </a:r>
            <a:endParaRPr lang="en-US" sz="3000" dirty="0"/>
          </a:p>
        </p:txBody>
      </p:sp>
      <p:sp>
        <p:nvSpPr>
          <p:cNvPr id="3" name="Captura PDF marco"/>
          <p:cNvSpPr/>
          <p:nvPr/>
        </p:nvSpPr>
        <p:spPr>
          <a:xfrm>
            <a:off x="612648" y="1024128"/>
            <a:ext cx="7918704" cy="2953512"/>
          </a:xfrm>
          <a:prstGeom prst="roundRect">
            <a:avLst>
              <a:gd name="adj" fmla="val 3096"/>
            </a:avLst>
          </a:prstGeom>
          <a:solidFill>
            <a:schemeClr val="bg1"/>
          </a:solidFill>
          <a:ln w="12700">
            <a:solidFill>
              <a:srgbClr val="D9E0EB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Captura PDF" descr="C:\Users\Victor Manuel\AppData\Local\Temp\claude\c--Users-Victor-Manuel-Desktop-GoldTrans\9574ba1a-6db1-45aa-bb8a-bf125813c3af\scratchpad\deck\pd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7772400" cy="2807208"/>
          </a:xfrm>
          <a:prstGeom prst="rect">
            <a:avLst/>
          </a:prstGeom>
        </p:spPr>
      </p:pic>
      <p:sp>
        <p:nvSpPr>
          <p:cNvPr id="5" name="PDF 1 fondo"/>
          <p:cNvSpPr/>
          <p:nvPr/>
        </p:nvSpPr>
        <p:spPr>
          <a:xfrm>
            <a:off x="548640" y="4096512"/>
            <a:ext cx="411480" cy="4114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PDF 1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4187038"/>
            <a:ext cx="230429" cy="230429"/>
          </a:xfrm>
          <a:prstGeom prst="rect">
            <a:avLst/>
          </a:prstGeom>
        </p:spPr>
      </p:pic>
      <p:sp>
        <p:nvSpPr>
          <p:cNvPr id="7" name="PDF 1 texto"/>
          <p:cNvSpPr txBox="1"/>
          <p:nvPr/>
        </p:nvSpPr>
        <p:spPr>
          <a:xfrm>
            <a:off x="1078992" y="4096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Logo, fecha y código del SGI</a:t>
            </a:r>
            <a:endParaRPr lang="en-US" sz="1300" dirty="0"/>
          </a:p>
        </p:txBody>
      </p:sp>
      <p:sp>
        <p:nvSpPr>
          <p:cNvPr id="8" name="PDF 2 fondo"/>
          <p:cNvSpPr/>
          <p:nvPr/>
        </p:nvSpPr>
        <p:spPr>
          <a:xfrm>
            <a:off x="3291840" y="4096512"/>
            <a:ext cx="411480" cy="4114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PDF 2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366" y="4187038"/>
            <a:ext cx="230429" cy="230429"/>
          </a:xfrm>
          <a:prstGeom prst="rect">
            <a:avLst/>
          </a:prstGeom>
        </p:spPr>
      </p:pic>
      <p:sp>
        <p:nvSpPr>
          <p:cNvPr id="10" name="PDF 2 texto"/>
          <p:cNvSpPr txBox="1"/>
          <p:nvPr/>
        </p:nvSpPr>
        <p:spPr>
          <a:xfrm>
            <a:off x="3822192" y="4096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Datos del cliente con su NIT</a:t>
            </a:r>
            <a:endParaRPr lang="en-US" sz="1300" dirty="0"/>
          </a:p>
        </p:txBody>
      </p:sp>
      <p:sp>
        <p:nvSpPr>
          <p:cNvPr id="11" name="PDF 3 fondo"/>
          <p:cNvSpPr/>
          <p:nvPr/>
        </p:nvSpPr>
        <p:spPr>
          <a:xfrm>
            <a:off x="6035040" y="4096512"/>
            <a:ext cx="411480" cy="4114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PDF 3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5566" y="4187038"/>
            <a:ext cx="230429" cy="230429"/>
          </a:xfrm>
          <a:prstGeom prst="rect">
            <a:avLst/>
          </a:prstGeom>
        </p:spPr>
      </p:pic>
      <p:sp>
        <p:nvSpPr>
          <p:cNvPr id="13" name="PDF 3 texto"/>
          <p:cNvSpPr txBox="1"/>
          <p:nvPr/>
        </p:nvSpPr>
        <p:spPr>
          <a:xfrm>
            <a:off x="6565392" y="4096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WhatsApp directo al asesor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Goldtours: del catálogo al pago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El cliente reserva un paquete turístico y paga por transferencia sin salir de la app</a:t>
            </a:r>
            <a:endParaRPr lang="en-US" sz="1500" dirty="0"/>
          </a:p>
        </p:txBody>
      </p:sp>
      <p:sp>
        <p:nvSpPr>
          <p:cNvPr id="4" name="Paso 1"/>
          <p:cNvSpPr/>
          <p:nvPr/>
        </p:nvSpPr>
        <p:spPr>
          <a:xfrm>
            <a:off x="457200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Paso 1 fondo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Paso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858061"/>
            <a:ext cx="307238" cy="307238"/>
          </a:xfrm>
          <a:prstGeom prst="rect">
            <a:avLst/>
          </a:prstGeom>
        </p:spPr>
      </p:pic>
      <p:sp>
        <p:nvSpPr>
          <p:cNvPr id="7" name="Paso 1 número"/>
          <p:cNvSpPr txBox="1"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aso 1 título"/>
          <p:cNvSpPr txBox="1"/>
          <p:nvPr/>
        </p:nvSpPr>
        <p:spPr>
          <a:xfrm>
            <a:off x="54864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</a:t>
            </a:r>
            <a:endParaRPr lang="en-US" sz="1500" dirty="0"/>
          </a:p>
        </p:txBody>
      </p:sp>
      <p:sp>
        <p:nvSpPr>
          <p:cNvPr id="9" name="Paso 1 texto"/>
          <p:cNvSpPr txBox="1"/>
          <p:nvPr/>
        </p:nvSpPr>
        <p:spPr>
          <a:xfrm>
            <a:off x="566928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Filtros por destino, duración y precio</a:t>
            </a:r>
            <a:endParaRPr lang="en-US" sz="1200" dirty="0"/>
          </a:p>
        </p:txBody>
      </p:sp>
      <p:sp>
        <p:nvSpPr>
          <p:cNvPr id="10" name="Paso 2"/>
          <p:cNvSpPr/>
          <p:nvPr/>
        </p:nvSpPr>
        <p:spPr>
          <a:xfrm>
            <a:off x="1847088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Paso 2 fondo"/>
          <p:cNvSpPr/>
          <p:nvPr/>
        </p:nvSpPr>
        <p:spPr>
          <a:xfrm>
            <a:off x="2212848" y="1737360"/>
            <a:ext cx="548640" cy="54864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Paso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549" y="1858061"/>
            <a:ext cx="307238" cy="307238"/>
          </a:xfrm>
          <a:prstGeom prst="rect">
            <a:avLst/>
          </a:prstGeom>
        </p:spPr>
      </p:pic>
      <p:sp>
        <p:nvSpPr>
          <p:cNvPr id="13" name="Paso 2 número"/>
          <p:cNvSpPr txBox="1"/>
          <p:nvPr/>
        </p:nvSpPr>
        <p:spPr>
          <a:xfrm>
            <a:off x="1938528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Paso 2 título"/>
          <p:cNvSpPr txBox="1"/>
          <p:nvPr/>
        </p:nvSpPr>
        <p:spPr>
          <a:xfrm>
            <a:off x="1938528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Ficha</a:t>
            </a:r>
            <a:endParaRPr lang="en-US" sz="1500" dirty="0"/>
          </a:p>
        </p:txBody>
      </p:sp>
      <p:sp>
        <p:nvSpPr>
          <p:cNvPr id="15" name="Paso 2 texto"/>
          <p:cNvSpPr txBox="1"/>
          <p:nvPr/>
        </p:nvSpPr>
        <p:spPr>
          <a:xfrm>
            <a:off x="1956816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Fotos, itinerario y fechas con cupos</a:t>
            </a:r>
            <a:endParaRPr lang="en-US" sz="1200" dirty="0"/>
          </a:p>
        </p:txBody>
      </p:sp>
      <p:sp>
        <p:nvSpPr>
          <p:cNvPr id="16" name="Paso 3"/>
          <p:cNvSpPr/>
          <p:nvPr/>
        </p:nvSpPr>
        <p:spPr>
          <a:xfrm>
            <a:off x="3236976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Paso 3 fondo"/>
          <p:cNvSpPr/>
          <p:nvPr/>
        </p:nvSpPr>
        <p:spPr>
          <a:xfrm>
            <a:off x="3602736" y="1737360"/>
            <a:ext cx="548640" cy="54864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Paso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437" y="1858061"/>
            <a:ext cx="307238" cy="307238"/>
          </a:xfrm>
          <a:prstGeom prst="rect">
            <a:avLst/>
          </a:prstGeom>
        </p:spPr>
      </p:pic>
      <p:sp>
        <p:nvSpPr>
          <p:cNvPr id="19" name="Paso 3 número"/>
          <p:cNvSpPr txBox="1"/>
          <p:nvPr/>
        </p:nvSpPr>
        <p:spPr>
          <a:xfrm>
            <a:off x="3328416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Paso 3 título"/>
          <p:cNvSpPr txBox="1"/>
          <p:nvPr/>
        </p:nvSpPr>
        <p:spPr>
          <a:xfrm>
            <a:off x="3328416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Reserva</a:t>
            </a:r>
            <a:endParaRPr lang="en-US" sz="1500" dirty="0"/>
          </a:p>
        </p:txBody>
      </p:sp>
      <p:sp>
        <p:nvSpPr>
          <p:cNvPr id="21" name="Paso 3 texto"/>
          <p:cNvSpPr txBox="1"/>
          <p:nvPr/>
        </p:nvSpPr>
        <p:spPr>
          <a:xfrm>
            <a:off x="3346704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Datos de viajeros y código de reserva</a:t>
            </a:r>
            <a:endParaRPr lang="en-US" sz="1200" dirty="0"/>
          </a:p>
        </p:txBody>
      </p:sp>
      <p:sp>
        <p:nvSpPr>
          <p:cNvPr id="22" name="Paso 4"/>
          <p:cNvSpPr/>
          <p:nvPr/>
        </p:nvSpPr>
        <p:spPr>
          <a:xfrm>
            <a:off x="4626864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Paso 4 fondo"/>
          <p:cNvSpPr/>
          <p:nvPr/>
        </p:nvSpPr>
        <p:spPr>
          <a:xfrm>
            <a:off x="4992624" y="1737360"/>
            <a:ext cx="548640" cy="54864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Paso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325" y="1858061"/>
            <a:ext cx="307238" cy="307238"/>
          </a:xfrm>
          <a:prstGeom prst="rect">
            <a:avLst/>
          </a:prstGeom>
        </p:spPr>
      </p:pic>
      <p:sp>
        <p:nvSpPr>
          <p:cNvPr id="25" name="Paso 4 número"/>
          <p:cNvSpPr txBox="1"/>
          <p:nvPr/>
        </p:nvSpPr>
        <p:spPr>
          <a:xfrm>
            <a:off x="4718304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Paso 4 título"/>
          <p:cNvSpPr txBox="1"/>
          <p:nvPr/>
        </p:nvSpPr>
        <p:spPr>
          <a:xfrm>
            <a:off x="4718304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Abono</a:t>
            </a:r>
            <a:endParaRPr lang="en-US" sz="1500" dirty="0"/>
          </a:p>
        </p:txBody>
      </p:sp>
      <p:sp>
        <p:nvSpPr>
          <p:cNvPr id="27" name="Paso 4 texto"/>
          <p:cNvSpPr txBox="1"/>
          <p:nvPr/>
        </p:nvSpPr>
        <p:spPr>
          <a:xfrm>
            <a:off x="4736592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Comprobante en foto o PDF</a:t>
            </a:r>
            <a:endParaRPr lang="en-US" sz="1200" dirty="0"/>
          </a:p>
        </p:txBody>
      </p:sp>
      <p:sp>
        <p:nvSpPr>
          <p:cNvPr id="28" name="Paso 5"/>
          <p:cNvSpPr/>
          <p:nvPr/>
        </p:nvSpPr>
        <p:spPr>
          <a:xfrm>
            <a:off x="6016752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Paso 5 fondo"/>
          <p:cNvSpPr/>
          <p:nvPr/>
        </p:nvSpPr>
        <p:spPr>
          <a:xfrm>
            <a:off x="6382512" y="1737360"/>
            <a:ext cx="548640" cy="54864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Paso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213" y="1858061"/>
            <a:ext cx="307238" cy="307238"/>
          </a:xfrm>
          <a:prstGeom prst="rect">
            <a:avLst/>
          </a:prstGeom>
        </p:spPr>
      </p:pic>
      <p:sp>
        <p:nvSpPr>
          <p:cNvPr id="31" name="Paso 5 número"/>
          <p:cNvSpPr txBox="1"/>
          <p:nvPr/>
        </p:nvSpPr>
        <p:spPr>
          <a:xfrm>
            <a:off x="6108192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Paso 5 título"/>
          <p:cNvSpPr txBox="1"/>
          <p:nvPr/>
        </p:nvSpPr>
        <p:spPr>
          <a:xfrm>
            <a:off x="6108192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Verificación</a:t>
            </a:r>
            <a:endParaRPr lang="en-US" sz="1500" dirty="0"/>
          </a:p>
        </p:txBody>
      </p:sp>
      <p:sp>
        <p:nvSpPr>
          <p:cNvPr id="33" name="Paso 5 texto"/>
          <p:cNvSpPr txBox="1"/>
          <p:nvPr/>
        </p:nvSpPr>
        <p:spPr>
          <a:xfrm>
            <a:off x="6126480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El asesor aprueba o rechaza</a:t>
            </a:r>
            <a:endParaRPr lang="en-US" sz="1200" dirty="0"/>
          </a:p>
        </p:txBody>
      </p:sp>
      <p:sp>
        <p:nvSpPr>
          <p:cNvPr id="34" name="Paso 6"/>
          <p:cNvSpPr/>
          <p:nvPr/>
        </p:nvSpPr>
        <p:spPr>
          <a:xfrm>
            <a:off x="7406640" y="1508760"/>
            <a:ext cx="1280160" cy="26060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Paso 6 fondo"/>
          <p:cNvSpPr/>
          <p:nvPr/>
        </p:nvSpPr>
        <p:spPr>
          <a:xfrm>
            <a:off x="7772400" y="1737360"/>
            <a:ext cx="548640" cy="54864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6" name="Paso 6 icono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3101" y="1858061"/>
            <a:ext cx="307238" cy="307238"/>
          </a:xfrm>
          <a:prstGeom prst="rect">
            <a:avLst/>
          </a:prstGeom>
        </p:spPr>
      </p:pic>
      <p:sp>
        <p:nvSpPr>
          <p:cNvPr id="37" name="Paso 6 número"/>
          <p:cNvSpPr txBox="1"/>
          <p:nvPr/>
        </p:nvSpPr>
        <p:spPr>
          <a:xfrm>
            <a:off x="7498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Paso 6 título"/>
          <p:cNvSpPr txBox="1"/>
          <p:nvPr/>
        </p:nvSpPr>
        <p:spPr>
          <a:xfrm>
            <a:off x="74980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Cupos</a:t>
            </a:r>
            <a:endParaRPr lang="en-US" sz="1500" dirty="0"/>
          </a:p>
        </p:txBody>
      </p:sp>
      <p:sp>
        <p:nvSpPr>
          <p:cNvPr id="39" name="Paso 6 texto"/>
          <p:cNvSpPr txBox="1"/>
          <p:nvPr/>
        </p:nvSpPr>
        <p:spPr>
          <a:xfrm>
            <a:off x="7516368" y="2834640"/>
            <a:ext cx="106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Se liberan solos si no se paga en 48 h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Portal de licitaciones y documentos</a:t>
            </a:r>
            <a:endParaRPr lang="en-US" sz="3000" dirty="0"/>
          </a:p>
        </p:txBody>
      </p:sp>
      <p:sp>
        <p:nvSpPr>
          <p:cNvPr id="3" name="Licitación 1"/>
          <p:cNvSpPr/>
          <p:nvPr/>
        </p:nvSpPr>
        <p:spPr>
          <a:xfrm>
            <a:off x="457200" y="1143000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Licitación 1 fondo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Licitación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Licitación 1 título"/>
          <p:cNvSpPr txBox="1"/>
          <p:nvPr/>
        </p:nvSpPr>
        <p:spPr>
          <a:xfrm>
            <a:off x="132588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Repositorio</a:t>
            </a:r>
            <a:endParaRPr lang="en-US" sz="1600" dirty="0"/>
          </a:p>
        </p:txBody>
      </p:sp>
      <p:sp>
        <p:nvSpPr>
          <p:cNvPr id="7" name="Licitación 1 texto"/>
          <p:cNvSpPr txBox="1"/>
          <p:nvPr/>
        </p:nvSpPr>
        <p:spPr>
          <a:xfrm>
            <a:off x="685800" y="1984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Documentos por categoría con historial de versiones</a:t>
            </a:r>
            <a:endParaRPr lang="en-US" sz="1200" dirty="0"/>
          </a:p>
        </p:txBody>
      </p:sp>
      <p:sp>
        <p:nvSpPr>
          <p:cNvPr id="8" name="Licitación 2"/>
          <p:cNvSpPr/>
          <p:nvPr/>
        </p:nvSpPr>
        <p:spPr>
          <a:xfrm>
            <a:off x="3264408" y="1143000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Licitación 2 fondo"/>
          <p:cNvSpPr/>
          <p:nvPr/>
        </p:nvSpPr>
        <p:spPr>
          <a:xfrm>
            <a:off x="3493008" y="1371600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Licitación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50" y="1482242"/>
            <a:ext cx="281635" cy="281635"/>
          </a:xfrm>
          <a:prstGeom prst="rect">
            <a:avLst/>
          </a:prstGeom>
        </p:spPr>
      </p:pic>
      <p:sp>
        <p:nvSpPr>
          <p:cNvPr id="11" name="Licitación 2 título"/>
          <p:cNvSpPr txBox="1"/>
          <p:nvPr/>
        </p:nvSpPr>
        <p:spPr>
          <a:xfrm>
            <a:off x="4133088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Alertas</a:t>
            </a:r>
            <a:endParaRPr lang="en-US" sz="1600" dirty="0"/>
          </a:p>
        </p:txBody>
      </p:sp>
      <p:sp>
        <p:nvSpPr>
          <p:cNvPr id="12" name="Licitación 2 texto"/>
          <p:cNvSpPr txBox="1"/>
          <p:nvPr/>
        </p:nvSpPr>
        <p:spPr>
          <a:xfrm>
            <a:off x="3493008" y="1984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Avisos a 60, 30 y 15 días del vencimiento</a:t>
            </a:r>
            <a:endParaRPr lang="en-US" sz="1200" dirty="0"/>
          </a:p>
        </p:txBody>
      </p:sp>
      <p:sp>
        <p:nvSpPr>
          <p:cNvPr id="13" name="Licitación 3"/>
          <p:cNvSpPr/>
          <p:nvPr/>
        </p:nvSpPr>
        <p:spPr>
          <a:xfrm>
            <a:off x="6071616" y="1143000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Licitación 3 fondo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Licitación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858" y="1482242"/>
            <a:ext cx="281635" cy="281635"/>
          </a:xfrm>
          <a:prstGeom prst="rect">
            <a:avLst/>
          </a:prstGeom>
        </p:spPr>
      </p:pic>
      <p:sp>
        <p:nvSpPr>
          <p:cNvPr id="16" name="Licitación 3 título"/>
          <p:cNvSpPr txBox="1"/>
          <p:nvPr/>
        </p:nvSpPr>
        <p:spPr>
          <a:xfrm>
            <a:off x="6940296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Tablero</a:t>
            </a:r>
            <a:endParaRPr lang="en-US" sz="1600" dirty="0"/>
          </a:p>
        </p:txBody>
      </p:sp>
      <p:sp>
        <p:nvSpPr>
          <p:cNvPr id="17" name="Licitación 3 texto"/>
          <p:cNvSpPr txBox="1"/>
          <p:nvPr/>
        </p:nvSpPr>
        <p:spPr>
          <a:xfrm>
            <a:off x="6300216" y="1984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Vigente, Por vencer y Vencido de un vistazo</a:t>
            </a:r>
            <a:endParaRPr lang="en-US" sz="1200" dirty="0"/>
          </a:p>
        </p:txBody>
      </p:sp>
      <p:sp>
        <p:nvSpPr>
          <p:cNvPr id="18" name="Licitación 4"/>
          <p:cNvSpPr/>
          <p:nvPr/>
        </p:nvSpPr>
        <p:spPr>
          <a:xfrm>
            <a:off x="457200" y="2862072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Licitación 4 fondo"/>
          <p:cNvSpPr/>
          <p:nvPr/>
        </p:nvSpPr>
        <p:spPr>
          <a:xfrm>
            <a:off x="685800" y="3090672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Licitación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" y="3201314"/>
            <a:ext cx="281635" cy="281635"/>
          </a:xfrm>
          <a:prstGeom prst="rect">
            <a:avLst/>
          </a:prstGeom>
        </p:spPr>
      </p:pic>
      <p:sp>
        <p:nvSpPr>
          <p:cNvPr id="21" name="Licitación 4 título"/>
          <p:cNvSpPr txBox="1"/>
          <p:nvPr/>
        </p:nvSpPr>
        <p:spPr>
          <a:xfrm>
            <a:off x="1325880" y="3090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Buscador</a:t>
            </a:r>
            <a:endParaRPr lang="en-US" sz="1600" dirty="0"/>
          </a:p>
        </p:txBody>
      </p:sp>
      <p:sp>
        <p:nvSpPr>
          <p:cNvPr id="22" name="Licitación 4 texto"/>
          <p:cNvSpPr txBox="1"/>
          <p:nvPr/>
        </p:nvSpPr>
        <p:spPr>
          <a:xfrm>
            <a:off x="685800" y="3703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Por nombre, categoría o estado</a:t>
            </a:r>
            <a:endParaRPr lang="en-US" sz="1200" dirty="0"/>
          </a:p>
        </p:txBody>
      </p:sp>
      <p:sp>
        <p:nvSpPr>
          <p:cNvPr id="23" name="Licitación 5"/>
          <p:cNvSpPr/>
          <p:nvPr/>
        </p:nvSpPr>
        <p:spPr>
          <a:xfrm>
            <a:off x="3264408" y="2862072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Licitación 5 fondo"/>
          <p:cNvSpPr/>
          <p:nvPr/>
        </p:nvSpPr>
        <p:spPr>
          <a:xfrm>
            <a:off x="3493008" y="3090672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Licitación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3650" y="3201314"/>
            <a:ext cx="281635" cy="281635"/>
          </a:xfrm>
          <a:prstGeom prst="rect">
            <a:avLst/>
          </a:prstGeom>
        </p:spPr>
      </p:pic>
      <p:sp>
        <p:nvSpPr>
          <p:cNvPr id="26" name="Licitación 5 título"/>
          <p:cNvSpPr txBox="1"/>
          <p:nvPr/>
        </p:nvSpPr>
        <p:spPr>
          <a:xfrm>
            <a:off x="4133088" y="3090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Procesos</a:t>
            </a:r>
            <a:endParaRPr lang="en-US" sz="1600" dirty="0"/>
          </a:p>
        </p:txBody>
      </p:sp>
      <p:sp>
        <p:nvSpPr>
          <p:cNvPr id="27" name="Licitación 5 texto"/>
          <p:cNvSpPr txBox="1"/>
          <p:nvPr/>
        </p:nvSpPr>
        <p:spPr>
          <a:xfrm>
            <a:off x="3493008" y="3703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Lista de requisitos con % de cumplimiento</a:t>
            </a:r>
            <a:endParaRPr lang="en-US" sz="1200" dirty="0"/>
          </a:p>
        </p:txBody>
      </p:sp>
      <p:sp>
        <p:nvSpPr>
          <p:cNvPr id="28" name="Licitación 6"/>
          <p:cNvSpPr/>
          <p:nvPr/>
        </p:nvSpPr>
        <p:spPr>
          <a:xfrm>
            <a:off x="6071616" y="2862072"/>
            <a:ext cx="2615184" cy="1536192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Licitación 6 fondo"/>
          <p:cNvSpPr/>
          <p:nvPr/>
        </p:nvSpPr>
        <p:spPr>
          <a:xfrm>
            <a:off x="6300216" y="3090672"/>
            <a:ext cx="502920" cy="502920"/>
          </a:xfrm>
          <a:prstGeom prst="ellipse">
            <a:avLst/>
          </a:prstGeom>
          <a:solidFill>
            <a:srgbClr val="1A4294"/>
          </a:solidFill>
          <a:ln w="12700">
            <a:solidFill>
              <a:srgbClr val="1A429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Licitación 6 icono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858" y="3201314"/>
            <a:ext cx="281635" cy="281635"/>
          </a:xfrm>
          <a:prstGeom prst="rect">
            <a:avLst/>
          </a:prstGeom>
        </p:spPr>
      </p:pic>
      <p:sp>
        <p:nvSpPr>
          <p:cNvPr id="31" name="Licitación 6 título"/>
          <p:cNvSpPr txBox="1"/>
          <p:nvPr/>
        </p:nvSpPr>
        <p:spPr>
          <a:xfrm>
            <a:off x="6940296" y="3090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Paquete</a:t>
            </a:r>
            <a:endParaRPr lang="en-US" sz="1600" dirty="0"/>
          </a:p>
        </p:txBody>
      </p:sp>
      <p:sp>
        <p:nvSpPr>
          <p:cNvPr id="32" name="Licitación 6 texto"/>
          <p:cNvSpPr txBox="1"/>
          <p:nvPr/>
        </p:nvSpPr>
        <p:spPr>
          <a:xfrm>
            <a:off x="6300216" y="3703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Descarga en un clic, con aviso de vencidos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usuario ve solo lo suyo</a:t>
            </a:r>
            <a:endParaRPr lang="en-US" sz="3000" dirty="0"/>
          </a:p>
        </p:txBody>
      </p:sp>
      <p:sp>
        <p:nvSpPr>
          <p:cNvPr id="3" name="Rol 1"/>
          <p:cNvSpPr/>
          <p:nvPr/>
        </p:nvSpPr>
        <p:spPr>
          <a:xfrm>
            <a:off x="457200" y="109728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Rol 1 fondo"/>
          <p:cNvSpPr/>
          <p:nvPr/>
        </p:nvSpPr>
        <p:spPr>
          <a:xfrm>
            <a:off x="1106424" y="1325880"/>
            <a:ext cx="640080" cy="6400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Rol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42" y="1466698"/>
            <a:ext cx="358445" cy="358445"/>
          </a:xfrm>
          <a:prstGeom prst="rect">
            <a:avLst/>
          </a:prstGeom>
        </p:spPr>
      </p:pic>
      <p:sp>
        <p:nvSpPr>
          <p:cNvPr id="6" name="Rol 1 nombre"/>
          <p:cNvSpPr txBox="1"/>
          <p:nvPr/>
        </p:nvSpPr>
        <p:spPr>
          <a:xfrm>
            <a:off x="548640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Visitante</a:t>
            </a:r>
            <a:endParaRPr lang="en-US" sz="1700" dirty="0"/>
          </a:p>
        </p:txBody>
      </p:sp>
      <p:sp>
        <p:nvSpPr>
          <p:cNvPr id="7" name="Rol 1 tareas"/>
          <p:cNvSpPr txBox="1"/>
          <p:nvPr/>
        </p:nvSpPr>
        <p:spPr>
          <a:xfrm>
            <a:off x="621792" y="260604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Cotiza sin cuenta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Explora Goldtours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 registra como persona o empresa</a:t>
            </a:r>
            <a:endParaRPr lang="en-US" sz="1200" dirty="0"/>
          </a:p>
        </p:txBody>
      </p:sp>
      <p:sp>
        <p:nvSpPr>
          <p:cNvPr id="8" name="Rol 2"/>
          <p:cNvSpPr/>
          <p:nvPr/>
        </p:nvSpPr>
        <p:spPr>
          <a:xfrm>
            <a:off x="2560320" y="109728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ol 2 fondo"/>
          <p:cNvSpPr/>
          <p:nvPr/>
        </p:nvSpPr>
        <p:spPr>
          <a:xfrm>
            <a:off x="3209544" y="1325880"/>
            <a:ext cx="640080" cy="6400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Rol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362" y="1466698"/>
            <a:ext cx="358445" cy="358445"/>
          </a:xfrm>
          <a:prstGeom prst="rect">
            <a:avLst/>
          </a:prstGeom>
        </p:spPr>
      </p:pic>
      <p:sp>
        <p:nvSpPr>
          <p:cNvPr id="11" name="Rol 2 nombre"/>
          <p:cNvSpPr txBox="1"/>
          <p:nvPr/>
        </p:nvSpPr>
        <p:spPr>
          <a:xfrm>
            <a:off x="2651760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Cliente</a:t>
            </a:r>
            <a:endParaRPr lang="en-US" sz="1700" dirty="0"/>
          </a:p>
        </p:txBody>
      </p:sp>
      <p:sp>
        <p:nvSpPr>
          <p:cNvPr id="12" name="Rol 2 tareas"/>
          <p:cNvSpPr txBox="1"/>
          <p:nvPr/>
        </p:nvSpPr>
        <p:spPr>
          <a:xfrm>
            <a:off x="2724912" y="260604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Guarda sus cotizaciones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Solicita servicios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Reserva y paga paquetes</a:t>
            </a:r>
            <a:endParaRPr lang="en-US" sz="1200" dirty="0"/>
          </a:p>
        </p:txBody>
      </p:sp>
      <p:sp>
        <p:nvSpPr>
          <p:cNvPr id="13" name="Rol 3"/>
          <p:cNvSpPr/>
          <p:nvPr/>
        </p:nvSpPr>
        <p:spPr>
          <a:xfrm>
            <a:off x="4663440" y="109728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Rol 3 fondo"/>
          <p:cNvSpPr/>
          <p:nvPr/>
        </p:nvSpPr>
        <p:spPr>
          <a:xfrm>
            <a:off x="5312664" y="1325880"/>
            <a:ext cx="640080" cy="6400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Rol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482" y="1466698"/>
            <a:ext cx="358445" cy="358445"/>
          </a:xfrm>
          <a:prstGeom prst="rect">
            <a:avLst/>
          </a:prstGeom>
        </p:spPr>
      </p:pic>
      <p:sp>
        <p:nvSpPr>
          <p:cNvPr id="16" name="Rol 3 nombre"/>
          <p:cNvSpPr txBox="1"/>
          <p:nvPr/>
        </p:nvSpPr>
        <p:spPr>
          <a:xfrm>
            <a:off x="4754880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Asesor</a:t>
            </a:r>
            <a:endParaRPr lang="en-US" sz="1700" dirty="0"/>
          </a:p>
        </p:txBody>
      </p:sp>
      <p:sp>
        <p:nvSpPr>
          <p:cNvPr id="17" name="Rol 3 tareas"/>
          <p:cNvSpPr txBox="1"/>
          <p:nvPr/>
        </p:nvSpPr>
        <p:spPr>
          <a:xfrm>
            <a:off x="4828032" y="260604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Gestiona solicitudes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Verifica abonos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Maneja documentos y licitaciones</a:t>
            </a:r>
            <a:endParaRPr lang="en-US" sz="1200" dirty="0"/>
          </a:p>
        </p:txBody>
      </p:sp>
      <p:sp>
        <p:nvSpPr>
          <p:cNvPr id="18" name="Rol 4"/>
          <p:cNvSpPr/>
          <p:nvPr/>
        </p:nvSpPr>
        <p:spPr>
          <a:xfrm>
            <a:off x="6766560" y="109728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Rol 4 fondo"/>
          <p:cNvSpPr/>
          <p:nvPr/>
        </p:nvSpPr>
        <p:spPr>
          <a:xfrm>
            <a:off x="7415784" y="1325880"/>
            <a:ext cx="640080" cy="6400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Rol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602" y="1466698"/>
            <a:ext cx="358445" cy="358445"/>
          </a:xfrm>
          <a:prstGeom prst="rect">
            <a:avLst/>
          </a:prstGeom>
        </p:spPr>
      </p:pic>
      <p:sp>
        <p:nvSpPr>
          <p:cNvPr id="21" name="Rol 4 nombre"/>
          <p:cNvSpPr txBox="1"/>
          <p:nvPr/>
        </p:nvSpPr>
        <p:spPr>
          <a:xfrm>
            <a:off x="6858000" y="21031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Administrador</a:t>
            </a:r>
            <a:endParaRPr lang="en-US" sz="1700" dirty="0"/>
          </a:p>
        </p:txBody>
      </p:sp>
      <p:sp>
        <p:nvSpPr>
          <p:cNvPr id="22" name="Rol 4 tareas"/>
          <p:cNvSpPr txBox="1"/>
          <p:nvPr/>
        </p:nvSpPr>
        <p:spPr>
          <a:xfrm>
            <a:off x="6931152" y="260604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Usuarios y flota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Rutas, tarifas y paquetes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Ventas y portal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Una app más clara y con nuestra marca</a:t>
            </a:r>
            <a:endParaRPr lang="en-US" sz="3000" dirty="0"/>
          </a:p>
        </p:txBody>
      </p:sp>
      <p:sp>
        <p:nvSpPr>
          <p:cNvPr id="3" name="Captura inicio marco"/>
          <p:cNvSpPr/>
          <p:nvPr/>
        </p:nvSpPr>
        <p:spPr>
          <a:xfrm>
            <a:off x="521208" y="1024128"/>
            <a:ext cx="3026664" cy="3566160"/>
          </a:xfrm>
          <a:prstGeom prst="roundRect">
            <a:avLst>
              <a:gd name="adj" fmla="val 3021"/>
            </a:avLst>
          </a:prstGeom>
          <a:solidFill>
            <a:schemeClr val="bg1"/>
          </a:solidFill>
          <a:ln w="12700">
            <a:solidFill>
              <a:srgbClr val="D9E0EB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Captura inicio" descr="C:\Users\Victor Manuel\AppData\Local\Temp\claude\c--Users-Victor-Manuel-Desktop-GoldTrans\9574ba1a-6db1-45aa-bb8a-bf125813c3af\scratchpad\deck\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2880360" cy="3419856"/>
          </a:xfrm>
          <a:prstGeom prst="rect">
            <a:avLst/>
          </a:prstGeom>
        </p:spPr>
      </p:pic>
      <p:sp>
        <p:nvSpPr>
          <p:cNvPr id="5" name="UX 1 fondo"/>
          <p:cNvSpPr/>
          <p:nvPr/>
        </p:nvSpPr>
        <p:spPr>
          <a:xfrm>
            <a:off x="4069080" y="123444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UX 1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1335024"/>
            <a:ext cx="256032" cy="256032"/>
          </a:xfrm>
          <a:prstGeom prst="rect">
            <a:avLst/>
          </a:prstGeom>
        </p:spPr>
      </p:pic>
      <p:sp>
        <p:nvSpPr>
          <p:cNvPr id="7" name="UX 1 texto"/>
          <p:cNvSpPr txBox="1"/>
          <p:nvPr/>
        </p:nvSpPr>
        <p:spPr>
          <a:xfrm>
            <a:off x="4663440" y="11978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Imagen de marca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Logo de GOLDTRANS y colores azul y dorado</a:t>
            </a:r>
            <a:endParaRPr lang="en-US" sz="1400" dirty="0"/>
          </a:p>
        </p:txBody>
      </p:sp>
      <p:sp>
        <p:nvSpPr>
          <p:cNvPr id="8" name="UX 2 fondo"/>
          <p:cNvSpPr/>
          <p:nvPr/>
        </p:nvSpPr>
        <p:spPr>
          <a:xfrm>
            <a:off x="4069080" y="2039112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UX 2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4" y="2139696"/>
            <a:ext cx="256032" cy="256032"/>
          </a:xfrm>
          <a:prstGeom prst="rect">
            <a:avLst/>
          </a:prstGeom>
        </p:spPr>
      </p:pic>
      <p:sp>
        <p:nvSpPr>
          <p:cNvPr id="10" name="UX 2 texto"/>
          <p:cNvSpPr txBox="1"/>
          <p:nvPr/>
        </p:nvSpPr>
        <p:spPr>
          <a:xfrm>
            <a:off x="4663440" y="200253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Calendario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Las fechas se eligen, ya no se escriben</a:t>
            </a:r>
            <a:endParaRPr lang="en-US" sz="1400" dirty="0"/>
          </a:p>
        </p:txBody>
      </p:sp>
      <p:sp>
        <p:nvSpPr>
          <p:cNvPr id="11" name="UX 3 fondo"/>
          <p:cNvSpPr/>
          <p:nvPr/>
        </p:nvSpPr>
        <p:spPr>
          <a:xfrm>
            <a:off x="4069080" y="2843784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UX 3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2944368"/>
            <a:ext cx="256032" cy="256032"/>
          </a:xfrm>
          <a:prstGeom prst="rect">
            <a:avLst/>
          </a:prstGeom>
        </p:spPr>
      </p:pic>
      <p:sp>
        <p:nvSpPr>
          <p:cNvPr id="13" name="UX 3 texto"/>
          <p:cNvSpPr txBox="1"/>
          <p:nvPr/>
        </p:nvSpPr>
        <p:spPr>
          <a:xfrm>
            <a:off x="4663440" y="2807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Estados con color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Pendiente, confirmado o vencido se ve al instante</a:t>
            </a:r>
            <a:endParaRPr lang="en-US" sz="1400" dirty="0"/>
          </a:p>
        </p:txBody>
      </p:sp>
      <p:sp>
        <p:nvSpPr>
          <p:cNvPr id="14" name="UX 4 fondo"/>
          <p:cNvSpPr/>
          <p:nvPr/>
        </p:nvSpPr>
        <p:spPr>
          <a:xfrm>
            <a:off x="4069080" y="3648456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UX 4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9664" y="3749040"/>
            <a:ext cx="256032" cy="256032"/>
          </a:xfrm>
          <a:prstGeom prst="rect">
            <a:avLst/>
          </a:prstGeom>
        </p:spPr>
      </p:pic>
      <p:sp>
        <p:nvSpPr>
          <p:cNvPr id="16" name="UX 4 texto"/>
          <p:cNvSpPr txBox="1"/>
          <p:nvPr/>
        </p:nvSpPr>
        <p:spPr>
          <a:xfrm>
            <a:off x="4663440" y="3611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Navegación sencilla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Desde cualquier pantalla se vuelve al inicio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Calidad comprobada</a:t>
            </a:r>
            <a:endParaRPr lang="en-US" sz="3000" dirty="0"/>
          </a:p>
        </p:txBody>
      </p:sp>
      <p:sp>
        <p:nvSpPr>
          <p:cNvPr id="3" name="Calidad 1 fondo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Calidad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335024"/>
            <a:ext cx="256032" cy="256032"/>
          </a:xfrm>
          <a:prstGeom prst="rect">
            <a:avLst/>
          </a:prstGeom>
        </p:spPr>
      </p:pic>
      <p:sp>
        <p:nvSpPr>
          <p:cNvPr id="5" name="Calidad 1 texto"/>
          <p:cNvSpPr txBox="1"/>
          <p:nvPr/>
        </p:nvSpPr>
        <p:spPr>
          <a:xfrm>
            <a:off x="1051560" y="11978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165 pruebas automáticas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Cálculo de tarifas, validaciones y reglas de negocio</a:t>
            </a:r>
            <a:endParaRPr lang="en-US" sz="1400" dirty="0"/>
          </a:p>
        </p:txBody>
      </p:sp>
      <p:sp>
        <p:nvSpPr>
          <p:cNvPr id="6" name="Calidad 2 fondo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Calidad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249424"/>
            <a:ext cx="256032" cy="256032"/>
          </a:xfrm>
          <a:prstGeom prst="rect">
            <a:avLst/>
          </a:prstGeom>
        </p:spPr>
      </p:pic>
      <p:sp>
        <p:nvSpPr>
          <p:cNvPr id="8" name="Calidad 2 texto"/>
          <p:cNvSpPr txBox="1"/>
          <p:nvPr/>
        </p:nvSpPr>
        <p:spPr>
          <a:xfrm>
            <a:off x="1051560" y="21122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Seguridad por rol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Pruebas de base de datos para cada tipo de usuario</a:t>
            </a:r>
            <a:endParaRPr lang="en-US" sz="1400" dirty="0"/>
          </a:p>
        </p:txBody>
      </p:sp>
      <p:sp>
        <p:nvSpPr>
          <p:cNvPr id="9" name="Calidad 3 fondo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Calidad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163824"/>
            <a:ext cx="256032" cy="256032"/>
          </a:xfrm>
          <a:prstGeom prst="rect">
            <a:avLst/>
          </a:prstGeom>
        </p:spPr>
      </p:pic>
      <p:sp>
        <p:nvSpPr>
          <p:cNvPr id="11" name="Calidad 3 texto"/>
          <p:cNvSpPr txBox="1"/>
          <p:nvPr/>
        </p:nvSpPr>
        <p:spPr>
          <a:xfrm>
            <a:off x="1051560" y="30266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Revisión continua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Cada cambio se verifica antes de unirse al proyecto</a:t>
            </a:r>
            <a:endParaRPr lang="en-US" sz="1400" dirty="0"/>
          </a:p>
        </p:txBody>
      </p:sp>
      <p:graphicFrame>
        <p:nvGraphicFramePr>
          <p:cNvPr id="12" name="Gráfico rendimiento"/>
          <p:cNvGraphicFramePr/>
          <p:nvPr/>
        </p:nvGraphicFramePr>
        <p:xfrm>
          <a:off x="4846320" y="105156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2744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Próximos pasos</a:t>
            </a:r>
            <a:endParaRPr lang="en-US" sz="3000" dirty="0"/>
          </a:p>
        </p:txBody>
      </p:sp>
      <p:sp>
        <p:nvSpPr>
          <p:cNvPr id="3" name="Paso siguiente 1 fondo"/>
          <p:cNvSpPr/>
          <p:nvPr/>
        </p:nvSpPr>
        <p:spPr>
          <a:xfrm>
            <a:off x="457200" y="13716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Paso siguiente 1 número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Paso siguiente 1 texto"/>
          <p:cNvSpPr txBox="1"/>
          <p:nvPr/>
        </p:nvSpPr>
        <p:spPr>
          <a:xfrm>
            <a:off x="118872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Activar las nuevas tarifas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Publicarlas en producción y cargar los valores reales por ruta</a:t>
            </a:r>
            <a:endParaRPr lang="en-US" sz="1400" dirty="0"/>
          </a:p>
        </p:txBody>
      </p:sp>
      <p:sp>
        <p:nvSpPr>
          <p:cNvPr id="6" name="Paso siguiente 2 fondo"/>
          <p:cNvSpPr/>
          <p:nvPr/>
        </p:nvSpPr>
        <p:spPr>
          <a:xfrm>
            <a:off x="4663440" y="13716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Paso siguiente 2 número"/>
          <p:cNvSpPr txBox="1"/>
          <p:nvPr/>
        </p:nvSpPr>
        <p:spPr>
          <a:xfrm>
            <a:off x="46634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Paso siguiente 2 texto"/>
          <p:cNvSpPr txBox="1"/>
          <p:nvPr/>
        </p:nvSpPr>
        <p:spPr>
          <a:xfrm>
            <a:off x="5394960" y="1325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Probar en celulares reales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Android y iPhone, con usuarios de la empresa</a:t>
            </a:r>
            <a:endParaRPr lang="en-US" sz="1400" dirty="0"/>
          </a:p>
        </p:txBody>
      </p:sp>
      <p:sp>
        <p:nvSpPr>
          <p:cNvPr id="9" name="Paso siguiente 3 fondo"/>
          <p:cNvSpPr/>
          <p:nvPr/>
        </p:nvSpPr>
        <p:spPr>
          <a:xfrm>
            <a:off x="457200" y="2697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Paso siguiente 3 número"/>
          <p:cNvSpPr txBox="1"/>
          <p:nvPr/>
        </p:nvSpPr>
        <p:spPr>
          <a:xfrm>
            <a:off x="4572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Paso siguiente 3 texto"/>
          <p:cNvSpPr txBox="1"/>
          <p:nvPr/>
        </p:nvSpPr>
        <p:spPr>
          <a:xfrm>
            <a:off x="11887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Cotizaciones de varias rutas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Varias combinaciones de vehículo y ruta en una sola carta</a:t>
            </a:r>
            <a:endParaRPr lang="en-US" sz="1400" dirty="0"/>
          </a:p>
        </p:txBody>
      </p:sp>
      <p:sp>
        <p:nvSpPr>
          <p:cNvPr id="12" name="Paso siguiente 4 fondo"/>
          <p:cNvSpPr/>
          <p:nvPr/>
        </p:nvSpPr>
        <p:spPr>
          <a:xfrm>
            <a:off x="4663440" y="2697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Paso siguiente 4 número"/>
          <p:cNvSpPr txBox="1"/>
          <p:nvPr/>
        </p:nvSpPr>
        <p:spPr>
          <a:xfrm>
            <a:off x="46634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Paso siguiente 4 texto"/>
          <p:cNvSpPr txBox="1"/>
          <p:nvPr/>
        </p:nvSpPr>
        <p:spPr>
          <a:xfrm>
            <a:off x="539496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Logo en alta resolución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Para que el ícono de la app se vea nítido</a:t>
            </a:r>
            <a:endParaRPr lang="en-US" sz="1400" dirty="0"/>
          </a:p>
        </p:txBody>
      </p:sp>
      <p:sp>
        <p:nvSpPr>
          <p:cNvPr id="15" name="Logo cierre fondo"/>
          <p:cNvSpPr/>
          <p:nvPr/>
        </p:nvSpPr>
        <p:spPr>
          <a:xfrm>
            <a:off x="457200" y="4023360"/>
            <a:ext cx="594360" cy="5943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Logo cierre" descr="C:\Users\Victor Manuel\AppData\Local\Temp\claude\c--Users-Victor-Manuel-Desktop-GoldTrans\9574ba1a-6db1-45aa-bb8a-bf125813c3af\scratchpad\deck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087368"/>
            <a:ext cx="466344" cy="466344"/>
          </a:xfrm>
          <a:prstGeom prst="rect">
            <a:avLst/>
          </a:prstGeom>
        </p:spPr>
      </p:pic>
      <p:sp>
        <p:nvSpPr>
          <p:cNvPr id="17" name="Gracias"/>
          <p:cNvSpPr txBox="1"/>
          <p:nvPr/>
        </p:nvSpPr>
        <p:spPr>
          <a:xfrm>
            <a:off x="12344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¡Gracias!  ·  "Nuestra Misión, Tu Destino"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LDTRANS">
  <a:themeElements>
    <a:clrScheme name="GOLDTRANS">
      <a:dk1>
        <a:srgbClr val="14213D"/>
      </a:dk1>
      <a:lt1>
        <a:srgbClr val="FFFFFF"/>
      </a:lt1>
      <a:dk2>
        <a:srgbClr val="102E6E"/>
      </a:dk2>
      <a:lt2>
        <a:srgbClr val="EAF0FA"/>
      </a:lt2>
      <a:accent1>
        <a:srgbClr val="1A4294"/>
      </a:accent1>
      <a:accent2>
        <a:srgbClr val="E3B341"/>
      </a:accent2>
      <a:accent3>
        <a:srgbClr val="8A6410"/>
      </a:accent3>
      <a:accent4>
        <a:srgbClr val="5E6A7E"/>
      </a:accent4>
      <a:accent5>
        <a:srgbClr val="1E7B3A"/>
      </a:accent5>
      <a:accent6>
        <a:srgbClr val="C62828"/>
      </a:accent6>
      <a:hlink>
        <a:srgbClr val="1A4294"/>
      </a:hlink>
      <a:folHlink>
        <a:srgbClr val="102E6E"/>
      </a:folHlink>
    </a:clrScheme>
    <a:fontScheme name="GOLDTRA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973</Words>
  <Application>Microsoft Office PowerPoint</Application>
  <PresentationFormat>Presentación en pantalla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GOLDTRANS</vt:lpstr>
      <vt:lpstr>App móvil GOLDTRANS</vt:lpstr>
      <vt:lpstr>El proyecto en cifras</vt:lpstr>
      <vt:lpstr>Cotizador instantáneo</vt:lpstr>
      <vt:lpstr>Tarifas como en las cotizaciones reales</vt:lpstr>
      <vt:lpstr>La cotización sale con formato oficial</vt:lpstr>
      <vt:lpstr>Goldtours: del catálogo al pago</vt:lpstr>
      <vt:lpstr>Portal de licitaciones y documentos</vt:lpstr>
      <vt:lpstr>Cada usuario ve solo lo suyo</vt:lpstr>
      <vt:lpstr>Una app más clara y con nuestra marca</vt:lpstr>
      <vt:lpstr>Calidad comprobada</vt:lpstr>
      <vt:lpstr>Próximos pasos</vt:lpstr>
    </vt:vector>
  </TitlesOfParts>
  <Company>GOLDTRANS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GOLDTRANS · Avances del proyecto</dc:title>
  <dc:subject>PptxGenJS Presentation</dc:subject>
  <dc:creator>Equipo GOLDTRANS</dc:creator>
  <cp:lastModifiedBy>Victor Velasquez</cp:lastModifiedBy>
  <cp:revision>2</cp:revision>
  <dcterms:created xsi:type="dcterms:W3CDTF">2026-10-21T19:56:48Z</dcterms:created>
  <dcterms:modified xsi:type="dcterms:W3CDTF">2026-10-21T21:40:26Z</dcterms:modified>
</cp:coreProperties>
</file>